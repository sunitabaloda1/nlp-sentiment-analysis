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138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3" y="0"/>
            <a:ext cx="12027406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 dirty="0">
                <a:solidFill>
                  <a:srgbClr val="0D1837"/>
                </a:solidFill>
                <a:latin typeface="Aptos Display"/>
              </a:rPr>
              <a:t>The Evolution of NLP – Comparing Three Eras of 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7276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i="1" dirty="0">
                <a:solidFill>
                  <a:srgbClr val="5B6371"/>
                </a:solidFill>
                <a:latin typeface="Aptos"/>
              </a:rPr>
              <a:t>Traditional ML • Deep Learning (LSTM) • Pretrained NLP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0332720" cy="1143000"/>
          </a:xfrm>
          <a:prstGeom prst="roundRect">
            <a:avLst/>
          </a:prstGeom>
          <a:solidFill>
            <a:srgbClr val="002060"/>
          </a:solidFill>
          <a:ln w="1905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4440" y="2506864"/>
            <a:ext cx="96926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 dirty="0">
                <a:solidFill>
                  <a:schemeClr val="bg1"/>
                </a:solidFill>
                <a:latin typeface="Aptos"/>
              </a:rPr>
              <a:t>A controlled comparison of three NLP paradigms on the same movie-review test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90672"/>
            <a:ext cx="969264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 dirty="0">
                <a:solidFill>
                  <a:schemeClr val="bg1"/>
                </a:solidFill>
                <a:latin typeface="Aptos"/>
              </a:rPr>
              <a:t>2,000 NLTK Movie Reviews  |  80% Train / 20% Test  |  400 held-out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77639"/>
            <a:ext cx="2971800" cy="123444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4096511"/>
            <a:ext cx="2642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Traditional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71416"/>
            <a:ext cx="26426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TF-IDF + Logistic Regression</a:t>
            </a:r>
          </a:p>
        </p:txBody>
      </p:sp>
      <p:sp>
        <p:nvSpPr>
          <p:cNvPr id="12" name="Oval 11"/>
          <p:cNvSpPr/>
          <p:nvPr/>
        </p:nvSpPr>
        <p:spPr>
          <a:xfrm>
            <a:off x="3654081" y="4240704"/>
            <a:ext cx="438912" cy="438912"/>
          </a:xfrm>
          <a:prstGeom prst="ellipse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4081" y="43138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3977639"/>
            <a:ext cx="2971800" cy="12344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59" y="4096511"/>
            <a:ext cx="2642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4471416"/>
            <a:ext cx="26426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PyTorch Embedding + LSTM</a:t>
            </a:r>
          </a:p>
        </p:txBody>
      </p:sp>
      <p:sp>
        <p:nvSpPr>
          <p:cNvPr id="17" name="Oval 16"/>
          <p:cNvSpPr/>
          <p:nvPr/>
        </p:nvSpPr>
        <p:spPr>
          <a:xfrm>
            <a:off x="7055649" y="4240704"/>
            <a:ext cx="438912" cy="438912"/>
          </a:xfrm>
          <a:prstGeom prst="ellipse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5649" y="43138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17536" y="3977639"/>
            <a:ext cx="2971800" cy="123444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7" y="4096511"/>
            <a:ext cx="2642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Pretrained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471416"/>
            <a:ext cx="26426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NLTK VADER</a:t>
            </a:r>
          </a:p>
        </p:txBody>
      </p:sp>
      <p:sp>
        <p:nvSpPr>
          <p:cNvPr id="22" name="Oval 21"/>
          <p:cNvSpPr/>
          <p:nvPr/>
        </p:nvSpPr>
        <p:spPr>
          <a:xfrm>
            <a:off x="10457217" y="4240704"/>
            <a:ext cx="438912" cy="438912"/>
          </a:xfrm>
          <a:prstGeom prst="ellipse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57217" y="43138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5B6371"/>
                </a:solidFill>
                <a:latin typeface="Aptos"/>
              </a:rPr>
              <a:t>Natural Language Processing — Graded Take-Home Assignment</a:t>
            </a:r>
          </a:p>
        </p:txBody>
      </p:sp>
      <p:pic>
        <p:nvPicPr>
          <p:cNvPr id="26" name="Picture 25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1E8A5FB-0F96-6DC5-F92B-AEC7D560D10D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0E3F10-31A7-4D06-CB24-C290B5631AB7}"/>
              </a:ext>
            </a:extLst>
          </p:cNvPr>
          <p:cNvSpPr/>
          <p:nvPr/>
        </p:nvSpPr>
        <p:spPr>
          <a:xfrm>
            <a:off x="152400" y="-2"/>
            <a:ext cx="146304" cy="6858000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The business decision is clear: accuracy, F1, speed and operational simplicity all matter.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627631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BEST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892807"/>
            <a:ext cx="22677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85.50%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359152"/>
            <a:ext cx="22677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TF-IDF + Logistic Regression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0876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83864" y="1627631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BEST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892807"/>
            <a:ext cx="22677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0.8578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359152"/>
            <a:ext cx="22677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Balanced precision / 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50876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7064" y="1627631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FASTEST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1892807"/>
            <a:ext cx="22677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75DAD"/>
                </a:solidFill>
                <a:latin typeface="Aptos Display"/>
              </a:rPr>
              <a:t>0.0053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359152"/>
            <a:ext cx="22677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400 reviews in 5.25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50876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0264" y="1627631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LSTM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1892807"/>
            <a:ext cx="22677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550.9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2359152"/>
            <a:ext cx="22677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CPU-only environment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063240"/>
            <a:ext cx="3520440" cy="242316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182112"/>
            <a:ext cx="3191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What the experiment showed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557016"/>
            <a:ext cx="3191256" cy="16927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300" b="0" i="0" dirty="0">
                <a:solidFill>
                  <a:srgbClr val="191C22"/>
                </a:solidFill>
                <a:latin typeface="Aptos"/>
              </a:rPr>
              <a:t>TF-IDF + Logistic Regression delivered the strongest predictive performance.
VADER was a useful no-training baseline and achieved 64.75% accuracy.
LSTM required substantially more compute but did not generalize well on this dataset.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063240"/>
            <a:ext cx="3520440" cy="242316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07992" y="3182112"/>
            <a:ext cx="3191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Why the result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3557016"/>
            <a:ext cx="3191256" cy="1837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The comparison isolates model choice because every pipeline was evaluated on the same 400-review test set. This makes the performance and deployment trade-offs directly comparable.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063240"/>
            <a:ext cx="3520440" cy="242316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1" y="3182112"/>
            <a:ext cx="3191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Client 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557016"/>
            <a:ext cx="3191256" cy="1837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Deploy TF-IDF + Logistic Regression for the current use case. It offers the best accuracy/F1 with negligible inference cost and low operational complexity.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4" name="Picture 33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CLIENT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Business Objective &amp; Decision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The consultancy firm must choose between building from scratch and using an off-the-shelf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5394960" cy="1874519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627631"/>
            <a:ext cx="50657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Client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02536"/>
            <a:ext cx="5065776" cy="1289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91C22"/>
                </a:solidFill>
                <a:latin typeface="Aptos"/>
              </a:rPr>
              <a:t>Build an automated sentiment-analysis solution for unstructured movie reviews and determine which NLP paradigm is most suitable for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94960" cy="1874519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627631"/>
            <a:ext cx="50657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Controlled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02536"/>
            <a:ext cx="5065776" cy="1289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91C22"/>
                </a:solidFill>
                <a:latin typeface="Aptos"/>
              </a:rPr>
              <a:t>All three approaches use the NLTK Movie Reviews dataset and the exact same held-out 20% test set (400 reviews), enabling a fair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D1837"/>
                </a:solidFill>
                <a:latin typeface="Aptos"/>
              </a:rPr>
              <a:t>Production decision criteria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160520"/>
            <a:ext cx="228600" cy="228600"/>
          </a:xfrm>
          <a:prstGeom prst="ellipse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133087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D1837"/>
                </a:solidFill>
                <a:latin typeface="Aptos"/>
              </a:rPr>
              <a:t>Predictive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133087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B6371"/>
                </a:solidFill>
                <a:latin typeface="Aptos"/>
              </a:rPr>
              <a:t>Accuracy + Precision + Recall + F1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663440"/>
            <a:ext cx="228600" cy="228600"/>
          </a:xfrm>
          <a:prstGeom prst="ellipse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636007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D1837"/>
                </a:solidFill>
                <a:latin typeface="Aptos"/>
              </a:rPr>
              <a:t>Operational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636007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B6371"/>
                </a:solidFill>
                <a:latin typeface="Aptos"/>
              </a:rPr>
              <a:t>Training cost + inference latency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166360"/>
            <a:ext cx="228600" cy="228600"/>
          </a:xfrm>
          <a:prstGeom prst="ellipse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13892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D1837"/>
                </a:solidFill>
                <a:latin typeface="Aptos"/>
              </a:rPr>
              <a:t>Data requirement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513892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B6371"/>
                </a:solidFill>
                <a:latin typeface="Aptos"/>
              </a:rPr>
              <a:t>Task-specific labeled data vs pretrained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" y="5669280"/>
            <a:ext cx="228600" cy="228600"/>
          </a:xfrm>
          <a:prstGeom prst="ellipse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64184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D1837"/>
                </a:solidFill>
                <a:latin typeface="Aptos"/>
              </a:rPr>
              <a:t>Deployment effort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64184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B6371"/>
                </a:solidFill>
                <a:latin typeface="Aptos"/>
              </a:rPr>
              <a:t>Complexity, maintenance and reproducibility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749039"/>
            <a:ext cx="5074920" cy="21488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3867911"/>
            <a:ext cx="47457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Decision 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242816"/>
            <a:ext cx="4745736" cy="1563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A model is not “best” merely because it is more sophisticated.
For this client, the winning solution should maximize useful predictive performance while minimizing compute, latency, development effort and ongoing complexity.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371"/>
                </a:solidFill>
                <a:latin typeface="Aptos"/>
              </a:rPr>
              <a:t>NLP Sentiment Analysis | Take-Home Assignment</a:t>
            </a:r>
          </a:p>
        </p:txBody>
      </p:sp>
      <p:pic>
        <p:nvPicPr>
          <p:cNvPr id="31" name="Picture 30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275DAD"/>
                </a:solidFill>
                <a:latin typeface="Aptos"/>
              </a:rPr>
              <a:t>EXPERIMENTAL ARCHITECTURE — COMMON DATA, THREE NLP ERAS</a:t>
            </a:r>
          </a:p>
        </p:txBody>
      </p:sp>
      <p:pic>
        <p:nvPicPr>
          <p:cNvPr id="4" name="Picture 3" descr="NLP Architecture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4" y="502920"/>
            <a:ext cx="10069286" cy="617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675120"/>
            <a:ext cx="111556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 i="0">
                <a:solidFill>
                  <a:srgbClr val="5B6371"/>
                </a:solidFill>
                <a:latin typeface="Aptos"/>
              </a:rPr>
              <a:t>Architecture supplied as part of the project design and aligned to the assignment pipeline.</a:t>
            </a:r>
          </a:p>
        </p:txBody>
      </p:sp>
      <p:pic>
        <p:nvPicPr>
          <p:cNvPr id="6" name="Picture 5" descr="7e22b91c-519e-4932-a7bf-7732b19b2d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1 — DATA SOURCING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Dataset &amp; Common Preprocessing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The same source data and held-out test set were preserved across all three approaches.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627631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892807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75DAD"/>
                </a:solidFill>
                <a:latin typeface="Aptos Display"/>
              </a:rPr>
              <a:t>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26771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NLTK Movie Reviews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50876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9544" y="1627631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1892807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1,600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226771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80%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50876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78424" y="1627631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8424" y="1892807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6848AF"/>
                </a:solidFill>
                <a:latin typeface="Aptos Display"/>
              </a:rPr>
              <a:t>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8424" y="226771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20% — held 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50876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47304" y="1627631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1892807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28F1B"/>
                </a:solidFill>
                <a:latin typeface="Aptos Display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226771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Positive / Negative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063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182112"/>
            <a:ext cx="20939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Raw 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557016"/>
            <a:ext cx="209397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NLTK Movie Reviews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044952" y="3520440"/>
            <a:ext cx="320040" cy="228600"/>
          </a:xfrm>
          <a:prstGeom prst="rightArrow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383279" y="3063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47872" y="3182112"/>
            <a:ext cx="20939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Clean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3557016"/>
            <a:ext cx="209397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Lowercase • punctuation/numbers removed • stopwords removed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833872" y="3520440"/>
            <a:ext cx="320040" cy="228600"/>
          </a:xfrm>
          <a:prstGeom prst="rightArrow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172200" y="3063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3182112"/>
            <a:ext cx="20939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3557016"/>
            <a:ext cx="209397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80% train / 20% test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622792" y="3520440"/>
            <a:ext cx="320040" cy="228600"/>
          </a:xfrm>
          <a:prstGeom prst="rightArrow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961119" y="3063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25711" y="3182112"/>
            <a:ext cx="20939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Same test 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5711" y="3557016"/>
            <a:ext cx="209397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400 reviews for every pipeline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709160"/>
            <a:ext cx="5349240" cy="114300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82803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Rubric 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202936"/>
            <a:ext cx="5020055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Robust cleaning + correct 80/20 split + identical held-out test set satisfy the Level 4 Task 1 requirements.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4709160"/>
            <a:ext cx="5349240" cy="11430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36792" y="482803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Fair-comparison principle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5202936"/>
            <a:ext cx="5020055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No pipeline receives a different test sample. Model differences therefore reflect approach, not test-set composition.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e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nt</a:t>
            </a:r>
          </a:p>
        </p:txBody>
      </p:sp>
      <p:pic>
        <p:nvPicPr>
          <p:cNvPr id="46" name="Picture 45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2 — TRADITIONAL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Pipeline 1 — TF-IDF +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 lightweight statistical approach that converts reviews into sparse lexical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926080" cy="429768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11095"/>
            <a:ext cx="2596896" cy="3712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91C22"/>
                </a:solidFill>
                <a:latin typeface="Aptos"/>
              </a:rPr>
              <a:t>1. Clean review text
2. TF-IDF vectorization
   • word-level statistical representation
3. Logistic Regression
   • binary classifier
4. Predict Positive / Negative
5. Evaluate on the 400-review test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508760"/>
            <a:ext cx="1828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86784" y="1627631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1892807"/>
            <a:ext cx="15361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85.50%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08760"/>
            <a:ext cx="1828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44184" y="1627631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1892807"/>
            <a:ext cx="15361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84.13%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508760"/>
            <a:ext cx="1828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1583" y="1627631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1892807"/>
            <a:ext cx="15361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87.50%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1508760"/>
            <a:ext cx="1600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58984" y="1627631"/>
            <a:ext cx="1307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8984" y="1892807"/>
            <a:ext cx="1307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0.8578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2880360"/>
            <a:ext cx="2743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86784" y="2999232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TRAINING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84" y="3264408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75DAD"/>
                </a:solidFill>
                <a:latin typeface="Aptos Display"/>
              </a:rPr>
              <a:t>0.4909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4" y="3639312"/>
            <a:ext cx="2450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One-time model fit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2880360"/>
            <a:ext cx="2743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58584" y="2999232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3264408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75DAD"/>
                </a:solidFill>
                <a:latin typeface="Aptos Display"/>
              </a:rPr>
              <a:t>0.00525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8584" y="3639312"/>
            <a:ext cx="2450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400 reviews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4343400"/>
            <a:ext cx="7772400" cy="132588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05072" y="4462272"/>
            <a:ext cx="74432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Interpretation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5072" y="4837176"/>
            <a:ext cx="74432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91C22"/>
                </a:solidFill>
                <a:latin typeface="Aptos"/>
              </a:rPr>
              <a:t>Best overall predictive performance. The model is fast, simple to reproduce, inexpensive to operate, and well matched to this dataset.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5" name="Picture 34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3 —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Pipeline 2 — PyTorch Embedding + 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 sequence model trained from scratch to learn dense representations and sequential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874519" cy="11430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Vocabulary
35,542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04872" y="1828800"/>
            <a:ext cx="256032" cy="201168"/>
          </a:xfrm>
          <a:prstGeom prst="rightArrow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0" y="1417320"/>
            <a:ext cx="1874519" cy="11430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128-dim
nn.Embedding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45152" y="1828800"/>
            <a:ext cx="256032" cy="201168"/>
          </a:xfrm>
          <a:prstGeom prst="rightArrow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83480" y="1417320"/>
            <a:ext cx="1874519" cy="11430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4807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LSTM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128 hidden
units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85432" y="1828800"/>
            <a:ext cx="256032" cy="201168"/>
          </a:xfrm>
          <a:prstGeom prst="rightArrow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23760" y="1417320"/>
            <a:ext cx="1874519" cy="114300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8835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Dropout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0.3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25712" y="1828800"/>
            <a:ext cx="256032" cy="201168"/>
          </a:xfrm>
          <a:prstGeom prst="rightArrow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64040" y="1417320"/>
            <a:ext cx="1874519" cy="114300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2863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Linear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1 logit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53.75%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8094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094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28F1B"/>
                </a:solidFill>
                <a:latin typeface="Aptos Display"/>
              </a:rPr>
              <a:t>57.43%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2122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122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29.00%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6150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F1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150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0.3854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8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0178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0178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550.9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1784" y="3822191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CPU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572000"/>
            <a:ext cx="5349240" cy="1234440"/>
          </a:xfrm>
          <a:prstGeom prst="roundRect">
            <a:avLst/>
          </a:prstGeom>
          <a:solidFill>
            <a:srgbClr val="FFF1F1"/>
          </a:solidFill>
          <a:ln w="1524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8952" y="469087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CF4141"/>
                </a:solidFill>
                <a:latin typeface="Aptos"/>
              </a:rPr>
              <a:t>What happened?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5065776"/>
            <a:ext cx="5020055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Early stopping after 4 epochs. Best validation loss = 0.6899 at epoch 2. The model learned training patterns but did not generalize effectively.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572000"/>
            <a:ext cx="5349240" cy="123444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36792" y="469087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Business interpretation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5065776"/>
            <a:ext cx="5020055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More sophisticated architecture ≠ better result. On this small dataset, the additional compute and complexity were not justified by predictive performance.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50" name="Picture 49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4 — PRETRAINED MODEL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Pipeline 3 — NLTK VADER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 pretrained lexicon/rule-based sentiment analyzer used without task-specific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657600" cy="192024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3328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Inference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11095"/>
            <a:ext cx="3328416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Raw review → VADER sentiment scores → compound score → binary label
Decision rule used: compound ≥ 0.05 → Positive; otherwise → Negative.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11880"/>
            <a:ext cx="3657600" cy="173736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3730752"/>
            <a:ext cx="3328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Why it is 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105656"/>
            <a:ext cx="3328416" cy="1152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• No model training required
• Very quick to integrate
• Strong positive recall on this test set
• Useful baseline when labeled data is unavailable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417320"/>
            <a:ext cx="19202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64024" y="153619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1801368"/>
            <a:ext cx="16276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6848AF"/>
                </a:solidFill>
                <a:latin typeface="Aptos Display"/>
              </a:rPr>
              <a:t>64.75%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417320"/>
            <a:ext cx="19202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153619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1801368"/>
            <a:ext cx="16276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6848AF"/>
                </a:solidFill>
                <a:latin typeface="Aptos Display"/>
              </a:rPr>
              <a:t>61.13%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417320"/>
            <a:ext cx="1408611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0264" y="153619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1801368"/>
            <a:ext cx="16276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81.00%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15451" y="1417320"/>
            <a:ext cx="1517469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73384" y="1536192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1801368"/>
            <a:ext cx="1042416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 dirty="0">
                <a:solidFill>
                  <a:srgbClr val="6848AF"/>
                </a:solidFill>
                <a:latin typeface="Aptos Display"/>
              </a:rPr>
              <a:t>0.697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2788920"/>
            <a:ext cx="28803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64024" y="2907791"/>
            <a:ext cx="2587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INFERENCE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3172968"/>
            <a:ext cx="25877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28F1B"/>
                </a:solidFill>
                <a:latin typeface="Aptos Display"/>
              </a:rPr>
              <a:t>6.7448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024" y="3547872"/>
            <a:ext cx="2587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400 reviews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2788920"/>
            <a:ext cx="37947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91271" y="2907791"/>
            <a:ext cx="34655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0D1837"/>
                </a:solidFill>
                <a:latin typeface="Aptos"/>
              </a:rPr>
              <a:t>Training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1" y="3282696"/>
            <a:ext cx="346557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N/A — no task-specific training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343400"/>
            <a:ext cx="6903720" cy="105156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82312" y="4462272"/>
            <a:ext cx="6574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Key observation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4837176"/>
            <a:ext cx="6574536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VADER outperformed the LSTM but remained below TF-IDF + Logistic Regression on this movie-review benchmark.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7" name="Picture 36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COMPARATIVE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Results: Predictive Performance vs Operational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All metrics below are measured on the same 400-review test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42316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1545336"/>
            <a:ext cx="235000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417320"/>
            <a:ext cx="10972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08376" y="1545336"/>
            <a:ext cx="102412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10972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97096" y="1545336"/>
            <a:ext cx="102412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417320"/>
            <a:ext cx="10972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94376" y="1545336"/>
            <a:ext cx="102412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10972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1656" y="1545336"/>
            <a:ext cx="102412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1417320"/>
            <a:ext cx="13258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88936" y="1545336"/>
            <a:ext cx="12527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Train (s)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1417320"/>
            <a:ext cx="123444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93912" y="1545336"/>
            <a:ext cx="127741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Aptos"/>
              </a:rPr>
              <a:t>Inference (s)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1417320"/>
            <a:ext cx="146304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32136" y="1545336"/>
            <a:ext cx="138988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20240"/>
            <a:ext cx="2423160" cy="658368"/>
          </a:xfrm>
          <a:prstGeom prst="rect">
            <a:avLst/>
          </a:prstGeom>
          <a:solidFill>
            <a:srgbClr val="EEF9F1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539496" y="2084832"/>
            <a:ext cx="235000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dirty="0">
                <a:solidFill>
                  <a:srgbClr val="0D1837"/>
                </a:solidFill>
                <a:latin typeface="Aptos"/>
              </a:rPr>
              <a:t>TF-IDF + Logistic Regression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1920240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3008376" y="2084832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85.50%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1920240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4197096" y="2084832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84.13%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1920240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5294376" y="2084832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87.50%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920240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/>
          <p:cNvSpPr txBox="1"/>
          <p:nvPr/>
        </p:nvSpPr>
        <p:spPr>
          <a:xfrm>
            <a:off x="6391656" y="2084832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0.8578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1920240"/>
            <a:ext cx="1325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7488936" y="2084832"/>
            <a:ext cx="12527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0.4909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1920240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6"/>
          <p:cNvSpPr txBox="1"/>
          <p:nvPr/>
        </p:nvSpPr>
        <p:spPr>
          <a:xfrm>
            <a:off x="8951976" y="2084832"/>
            <a:ext cx="1161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0.00525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95560" y="1920240"/>
            <a:ext cx="1463040" cy="658368"/>
          </a:xfrm>
          <a:prstGeom prst="rect">
            <a:avLst/>
          </a:prstGeom>
          <a:solidFill>
            <a:srgbClr val="EEF9F1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/>
          <p:cNvSpPr txBox="1"/>
          <p:nvPr/>
        </p:nvSpPr>
        <p:spPr>
          <a:xfrm>
            <a:off x="10232136" y="2084832"/>
            <a:ext cx="13898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D9652"/>
                </a:solidFill>
                <a:latin typeface="Aptos"/>
              </a:rPr>
              <a:t>RECOMMENDED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578608"/>
            <a:ext cx="2423160" cy="658368"/>
          </a:xfrm>
          <a:prstGeom prst="rect">
            <a:avLst/>
          </a:prstGeom>
          <a:solidFill>
            <a:srgbClr val="FFF1F1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539496" y="2743200"/>
            <a:ext cx="235000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D1837"/>
                </a:solidFill>
                <a:latin typeface="Aptos"/>
              </a:rPr>
              <a:t>Refined PyTorch LSTM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71800" y="257860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TextBox 42"/>
          <p:cNvSpPr txBox="1"/>
          <p:nvPr/>
        </p:nvSpPr>
        <p:spPr>
          <a:xfrm>
            <a:off x="3008376" y="2743200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53.75%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57860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44"/>
          <p:cNvSpPr txBox="1"/>
          <p:nvPr/>
        </p:nvSpPr>
        <p:spPr>
          <a:xfrm>
            <a:off x="4197096" y="2743200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57.43%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257860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TextBox 46"/>
          <p:cNvSpPr txBox="1"/>
          <p:nvPr/>
        </p:nvSpPr>
        <p:spPr>
          <a:xfrm>
            <a:off x="5294376" y="2743200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29.00%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257860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/>
          <p:cNvSpPr txBox="1"/>
          <p:nvPr/>
        </p:nvSpPr>
        <p:spPr>
          <a:xfrm>
            <a:off x="6391656" y="2743200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0.3854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2578608"/>
            <a:ext cx="1325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1" name="TextBox 50"/>
          <p:cNvSpPr txBox="1"/>
          <p:nvPr/>
        </p:nvSpPr>
        <p:spPr>
          <a:xfrm>
            <a:off x="7488936" y="2743200"/>
            <a:ext cx="12527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550.8902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2578608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TextBox 52"/>
          <p:cNvSpPr txBox="1"/>
          <p:nvPr/>
        </p:nvSpPr>
        <p:spPr>
          <a:xfrm>
            <a:off x="8951976" y="2743200"/>
            <a:ext cx="1161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2.2820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95560" y="2578608"/>
            <a:ext cx="1463040" cy="658368"/>
          </a:xfrm>
          <a:prstGeom prst="rect">
            <a:avLst/>
          </a:prstGeom>
          <a:solidFill>
            <a:srgbClr val="FFF1F1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5" name="TextBox 54"/>
          <p:cNvSpPr txBox="1"/>
          <p:nvPr/>
        </p:nvSpPr>
        <p:spPr>
          <a:xfrm>
            <a:off x="10232136" y="2743200"/>
            <a:ext cx="13898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F4141"/>
                </a:solidFill>
                <a:latin typeface="Aptos"/>
              </a:rPr>
              <a:t>Not justified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236976"/>
            <a:ext cx="2423160" cy="658368"/>
          </a:xfrm>
          <a:prstGeom prst="rect">
            <a:avLst/>
          </a:prstGeom>
          <a:solidFill>
            <a:srgbClr val="F6F1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9496" y="3401568"/>
            <a:ext cx="235000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D1837"/>
                </a:solidFill>
                <a:latin typeface="Aptos"/>
              </a:rPr>
              <a:t>VADER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71800" y="3236976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08376" y="3401568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64.75%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60520" y="3236976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97096" y="3401568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61.13%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57800" y="3236976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94376" y="3401568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81.00%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3236976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91656" y="3401568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0.6968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60" y="3236976"/>
            <a:ext cx="1325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88936" y="3401568"/>
            <a:ext cx="12527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N/A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15400" y="3236976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51976" y="3401568"/>
            <a:ext cx="1161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6.7448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95560" y="3236976"/>
            <a:ext cx="1463040" cy="658368"/>
          </a:xfrm>
          <a:prstGeom prst="rect">
            <a:avLst/>
          </a:prstGeom>
          <a:solidFill>
            <a:srgbClr val="F6F1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32136" y="3401568"/>
            <a:ext cx="138988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6848AF"/>
                </a:solidFill>
                <a:latin typeface="Aptos"/>
              </a:rPr>
              <a:t>Baseline / fallback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4360" y="4251960"/>
            <a:ext cx="3429000" cy="123444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8952" y="4370832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Performance winner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4745736"/>
            <a:ext cx="326440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 dirty="0">
                <a:solidFill>
                  <a:srgbClr val="191C22"/>
                </a:solidFill>
                <a:latin typeface="Aptos"/>
              </a:rPr>
              <a:t>TF-IDF + Logistic Regression leads every primary predictive metric except none — it is best on accuracy, precision, recall and F1.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89120" y="4251960"/>
            <a:ext cx="3429000" cy="12344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53712" y="4370832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Compute winner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53712" y="4745736"/>
            <a:ext cx="30998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Traditional ML trains in under 1 second and processes the 400-review test set in 5.25 ms.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83879" y="4251960"/>
            <a:ext cx="3429000" cy="123444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48471" y="4370832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Important trade-off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48471" y="4745736"/>
            <a:ext cx="30998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VADER avoids training but has the slowest measured inference; LSTM has the highest training cost and lowest F1.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82" name="Picture 81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5 —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Why Did the Pretrained Model Perform Differently?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Domain adaptation explains why “pretrained” does not automatically mean “best for this task.”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337560" cy="361188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3008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VADER’s original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11095"/>
            <a:ext cx="3008376" cy="3026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VADER is a general-purpose sentiment lexicon/rule-based system designed and tuned around sentiment-bearing language, particularly social-media-style text.
It brings broad sentiment knowledge without training on this assignment’s movie-review labels.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2743200"/>
            <a:ext cx="685800" cy="411480"/>
          </a:xfrm>
          <a:prstGeom prst="rightArrow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39" y="32461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6848AF"/>
                </a:solidFill>
                <a:latin typeface="Aptos"/>
              </a:rPr>
              <a:t>DOMAIN
SHIFT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417320"/>
            <a:ext cx="3337560" cy="361188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1536192"/>
            <a:ext cx="3008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Target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911095"/>
            <a:ext cx="3008376" cy="3026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 i="0">
                <a:solidFill>
                  <a:srgbClr val="191C22"/>
                </a:solidFill>
                <a:latin typeface="Aptos"/>
              </a:rPr>
              <a:t>The evaluation data consists of long-form movie reviews with:
• nuanced criticism
• context-dependent sentiment
• mixed positive / negative language
• movie-specific expressions
These characteristics differ from the language patterns VADER was optimized to capture.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2834640" cy="361188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97112" y="1536192"/>
            <a:ext cx="25054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Observed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1911095"/>
            <a:ext cx="2505456" cy="3026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Accuracy 64.75%
F1 0.6968
Positive recall 81.00%
VADER identified many positive reviews, but its negative recall was only 48.50%.
That asymmetry is consistent with imperfect domain fit.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349240"/>
            <a:ext cx="10972800" cy="974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5359252"/>
            <a:ext cx="10643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0D1837"/>
                </a:solidFill>
                <a:latin typeface="Aptos"/>
              </a:rPr>
              <a:t>Bottom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734156"/>
            <a:ext cx="10643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>
                <a:solidFill>
                  <a:srgbClr val="191C22"/>
                </a:solidFill>
                <a:latin typeface="Aptos"/>
              </a:rPr>
              <a:t>Pretraining reduces development effort, but domain-specific labeled data can still produce a stronger task-adapted model — as demonstrated by TF-IDF + Logistic Regression.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23" name="Picture 22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5 —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Why These Evaluation Metrics?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Accuracy alone can hide class-specific errors; the metric set gives a more complete operational view.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483506"/>
            <a:ext cx="475488" cy="475488"/>
          </a:xfrm>
          <a:prstGeom prst="ellipse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74946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55883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0D1837"/>
                </a:solidFill>
                <a:latin typeface="Aptos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55883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 dirty="0">
                <a:solidFill>
                  <a:srgbClr val="191C22"/>
                </a:solidFill>
                <a:latin typeface="Aptos"/>
              </a:rPr>
              <a:t>Overall proportion of correct predictions.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58838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B6371"/>
                </a:solidFill>
                <a:latin typeface="Aptos"/>
              </a:rPr>
              <a:t>Useful headline measure because the held-out test set is balanced: 200 negative / 200 positive.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251164"/>
            <a:ext cx="475488" cy="475488"/>
          </a:xfrm>
          <a:prstGeom prst="ellipse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42604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2649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D1837"/>
                </a:solidFill>
                <a:latin typeface="Aptos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26496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Of predicted positives, how many are truly positive?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26496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B6371"/>
                </a:solidFill>
                <a:latin typeface="Aptos"/>
              </a:rPr>
              <a:t>Important when false-positive sentiment labels create downstream business noise.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051482"/>
            <a:ext cx="475488" cy="475488"/>
          </a:xfrm>
          <a:prstGeom prst="ellipse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142922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12681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D1837"/>
                </a:solidFill>
                <a:latin typeface="Aptos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12681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Of actual positives, how many are detected?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26814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B6371"/>
                </a:solidFill>
                <a:latin typeface="Aptos"/>
              </a:rPr>
              <a:t>Important when missing positive sentiment is costly; it also exposes VADER’s positive-heavy behavior.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927998"/>
            <a:ext cx="475488" cy="475488"/>
          </a:xfrm>
          <a:prstGeom prst="ellipse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019437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0333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D1837"/>
                </a:solidFill>
                <a:latin typeface="Aptos"/>
              </a:rP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00333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Harmonic mean of precision and recall.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0333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B6371"/>
                </a:solidFill>
                <a:latin typeface="Aptos"/>
              </a:rPr>
              <a:t>Best single balanced comparison when both false positives and false negatives matter.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343404"/>
            <a:ext cx="10972800" cy="874516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5539957"/>
            <a:ext cx="10643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 dirty="0">
                <a:solidFill>
                  <a:srgbClr val="275DAD"/>
                </a:solidFill>
                <a:latin typeface="Aptos"/>
              </a:rPr>
              <a:t>Selection rationale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914861"/>
            <a:ext cx="10643616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Accuracy + Precision + Recall + F1 provide complementary views of performance and directly support the production decision.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2" name="Picture 31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5 — PRODUCTION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Production Recommendation: Deploy TF-IDF +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For the current problem, the simplest model is also the strongest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914400"/>
          </a:xfrm>
          <a:prstGeom prst="roundRect">
            <a:avLst/>
          </a:prstGeom>
          <a:solidFill>
            <a:srgbClr val="92D050"/>
          </a:solidFill>
          <a:ln w="2540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 dirty="0">
                <a:solidFill>
                  <a:schemeClr val="bg1"/>
                </a:solidFill>
                <a:latin typeface="Aptos"/>
              </a:rPr>
              <a:t>RECOMMENDED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536192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i="0">
                <a:solidFill>
                  <a:srgbClr val="0D1837"/>
                </a:solidFill>
                <a:latin typeface="Aptos Display"/>
              </a:rPr>
              <a:t>TF-IDF + Logistic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0604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2185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Predictive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99816"/>
            <a:ext cx="21854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85.50% accuracy
0.8578 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60604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2724912"/>
            <a:ext cx="2185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99816"/>
            <a:ext cx="21854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0.00525 s
for 400 reviews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260604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2724912"/>
            <a:ext cx="2185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099816"/>
            <a:ext cx="21854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0.4909 s training
CPU-friendly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78824" y="260604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43416" y="2724912"/>
            <a:ext cx="2185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3099816"/>
            <a:ext cx="21854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Simple pipeline
Easy to retrain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51960"/>
            <a:ext cx="5349240" cy="1280160"/>
          </a:xfrm>
          <a:prstGeom prst="roundRect">
            <a:avLst/>
          </a:prstGeom>
          <a:solidFill>
            <a:srgbClr val="FFF1F1"/>
          </a:solidFill>
          <a:ln w="1524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37083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CF4141"/>
                </a:solidFill>
                <a:latin typeface="Aptos"/>
              </a:rPr>
              <a:t>Why not LSTM now?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745736"/>
            <a:ext cx="5020055" cy="694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53.75% accuracy and 0.3854 F1 after 550.9 seconds of CPU training. The added complexity does not produce a competitive result on this dataset.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251960"/>
            <a:ext cx="5349240" cy="128016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437083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Where VADER still 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745736"/>
            <a:ext cx="5020055" cy="694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Excellent rapid baseline when labeled data or training time is unavailable. However, its 64.75% accuracy and domain mismatch make it weaker than the task-specific statistical model 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0" name="Picture 29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5 — FINAL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Final Answers — The Four Questions the Client Needs Resolved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The final decision combines predictive evidence with practical production constraints.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1680316"/>
            <a:ext cx="438912" cy="438912"/>
          </a:xfrm>
          <a:prstGeom prst="ellipse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76261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12540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D1837"/>
                </a:solidFill>
                <a:latin typeface="Aptos"/>
              </a:rPr>
              <a:t>Which performed best?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694252"/>
            <a:ext cx="7360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TF-IDF + Logistic Regression. It achieved the highest accuracy (85.50%) and F1 (0.8578), while also being the fastest and least computationally demanding.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" y="2300802"/>
            <a:ext cx="438912" cy="438912"/>
          </a:xfrm>
          <a:prstGeom prst="ellipse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2383098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33026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D1837"/>
                </a:solidFill>
                <a:latin typeface="Aptos"/>
              </a:rPr>
              <a:t>Why did VADER perform differently?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314738"/>
            <a:ext cx="7360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VADER requires no task-specific training, but its general sentiment lexicon/rules are not adapted to this movie-review domain. Domain shift limits performance, especially for negative recall.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3030144"/>
            <a:ext cx="438912" cy="438912"/>
          </a:xfrm>
          <a:prstGeom prst="ellipse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311244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62368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D1837"/>
                </a:solidFill>
                <a:latin typeface="Aptos"/>
              </a:rPr>
              <a:t>Why these metrics?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044080"/>
            <a:ext cx="7360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Accuracy gives the headline result; precision and recall expose error trade-offs; F1 provides a balanced summary. Together they prevent a misleading accuracy-only conclusion.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" y="3770371"/>
            <a:ext cx="438912" cy="438912"/>
          </a:xfrm>
          <a:prstGeom prst="ellipse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3852667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802595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D1837"/>
                </a:solidFill>
                <a:latin typeface="Aptos"/>
              </a:rPr>
              <a:t>What should be deployed?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784307"/>
            <a:ext cx="7360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Deploy TF-IDF + Logistic Regression for the current production use case. Keep VADER as a lightweight baseline/fallback. Revisit LSTM only with substantially more labeled data, tuning and compute.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806440"/>
            <a:ext cx="10972800" cy="502920"/>
          </a:xfrm>
          <a:prstGeom prst="roundRect">
            <a:avLst/>
          </a:prstGeom>
          <a:solidFill>
            <a:srgbClr val="0D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943600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CLIENT TAKEAWAY  |  Choose the model that delivers the most business value — not the most architectural complexity.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371"/>
                </a:solidFill>
                <a:latin typeface="Aptos"/>
              </a:rPr>
              <a:t>NLP Sentiment Analysis | Final recommendation</a:t>
            </a:r>
          </a:p>
        </p:txBody>
      </p:sp>
      <p:pic>
        <p:nvPicPr>
          <p:cNvPr id="27" name="Picture 26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1754</Words>
  <Application>Microsoft Office PowerPoint</Application>
  <PresentationFormat>Widescreen</PresentationFormat>
  <Paragraphs>282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Markandeya R</dc:creator>
  <cp:keywords/>
  <dc:description>generated using python-pptx</dc:description>
  <cp:lastModifiedBy>Markandeya R</cp:lastModifiedBy>
  <cp:revision>9</cp:revision>
  <dcterms:created xsi:type="dcterms:W3CDTF">2013-01-27T09:14:16Z</dcterms:created>
  <dcterms:modified xsi:type="dcterms:W3CDTF">2026-09-03T14:37:04Z</dcterms:modified>
  <cp:category/>
</cp:coreProperties>
</file>